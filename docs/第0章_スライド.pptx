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【0-1】はじめまして。シクミAIコンサルの大熊太郎です。この講座を選んでいただいて、ありがとうございます。
最初にお伝えしておきたいことがあります。これは「AIの使い方を覚える講座」ではありません。あなたが毎週やっている面倒な作業を1つ選んで、それをAIに任せる形を作るための講座です。
ふつうは道具の使い方から入りますよね。でもそれだと、覚えたあとで「で、これを何に使うんだっけ」で止まってしまう。私も最初そうでした。なので先に「これを楽にしたい」を決めてから、道具を触ります。
私自身、最初の仕事は飲食店の店長でした。パソコンとはほぼ無縁の現場から、営業、労務の相談役を経てIT業界へ。つまり私も、もともとは非エンジニアです。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【0-2】この講座を見終わったときに、あなたができるようになっていることは4つです。
1つめ。自分の仕事の中から「AIに任せられそうな作業」を3つ挙げられる。
2つめ。自分のパソコンでClaude Codeを動かして、日本語で指示が出せる。
3つめ。用意したひな形を使って、1つの作業の下書きをAIに作らせられる。
4つめ。うまくいかないときに、自分で直す手順を持っている。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【0-2】逆に、この講座がやらないこともはっきり言っておきます。
あなたの業務に合わせた設計は、この講座には含まれません。動画は私が用意した例で進みます。あなたの会社の事情、扱っている情報の種類、上司への説明の仕方——そういう個別のことは、動画では扱えません。
そこまでやりたい方のために伴走プランがあります。ただ、まずはこの講座を一周してみてください。ひとりで最後まで行ける方も多いはずです。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【0-2】この講座と伴走プランの違いです。いちばん下の行を見てください。この講座のゴールは「やり方が分かる」ところまで。伴走プランは「作業が1つ、実際に終わる」ところまでをお約束しています。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【0-3】進め方です。順番に見てください。とばすと後半で困ります。
そして、見るだけでは身につきません。第2章と第4章には、実際に手を動かす回があります。そこは動画を止めて、自分でやってから先に進んでください。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【0-3】用意していただくものは3つです。
ひとつ、インターネットにつながるパソコン。WindowsでもMacでもかまいません。
ふたつ、Claudeのアプリ。無料でダウンロードできます。入れ方は第3章でやります。
みっつ、AIの利用料。これは受講料とは別に、月に数千円ほどかかります。無料枠や最小プランから始める方法も第3章でご案内します。
※ 具体的な金額はスライドにも口頭にも入れないこと。「月に数千円ほど」まで。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【0-3】質問について。動画の内容についてのご質問を、30日間お受けします。「この手順のとおりにやったが動かない」といったものです。窓口はメールで、平日3営業日以内にお返しします。
あなたの業務そのものをどう設計するかというご相談は、伴走プランの範囲になります。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【0-3】では、始めましょう。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3716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E8A3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シクミAIコンサル / 講座プラン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828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161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第0章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" y="2359152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この講座で、どこまでやるか</a:t>
            </a:r>
            <a:endParaRPr lang="en-US" sz="3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8046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この講座を見終わると、できること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81328"/>
            <a:ext cx="80467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09344"/>
            <a:ext cx="402336" cy="402336"/>
          </a:xfrm>
          <a:prstGeom prst="ellipse">
            <a:avLst/>
          </a:prstGeom>
          <a:solidFill>
            <a:srgbClr val="24457F"/>
          </a:solidFill>
          <a:ln w="12700">
            <a:solidFill>
              <a:srgbClr val="24457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093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1481328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自分の仕事から「AIに任せられそうな作業」を3つ挙げられる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267712"/>
            <a:ext cx="80467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395728"/>
            <a:ext cx="402336" cy="402336"/>
          </a:xfrm>
          <a:prstGeom prst="ellipse">
            <a:avLst/>
          </a:prstGeom>
          <a:solidFill>
            <a:srgbClr val="24457F"/>
          </a:solidFill>
          <a:ln w="12700">
            <a:solidFill>
              <a:srgbClr val="24457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395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2267712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自分のパソコンでClaude Codeを動かし、日本語で指示が出せる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054096"/>
            <a:ext cx="80467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182112"/>
            <a:ext cx="402336" cy="402336"/>
          </a:xfrm>
          <a:prstGeom prst="ellipse">
            <a:avLst/>
          </a:prstGeom>
          <a:solidFill>
            <a:srgbClr val="24457F"/>
          </a:solidFill>
          <a:ln w="12700">
            <a:solidFill>
              <a:srgbClr val="2445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182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3054096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ひな形を使って、1つの作業の下書きをAIに作らせられる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80467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968496"/>
            <a:ext cx="402336" cy="402336"/>
          </a:xfrm>
          <a:prstGeom prst="ellipse">
            <a:avLst/>
          </a:prstGeom>
          <a:solidFill>
            <a:srgbClr val="24457F"/>
          </a:solidFill>
          <a:ln w="12700">
            <a:solidFill>
              <a:srgbClr val="24457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968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3840480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うまくいかないとき、自分で直す手順を持っている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8046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この講座が、やらないこと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984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あなたの業務に合わせた設計は、含まれません。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84708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161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動画は、こちらで用意した例で進みます。次の3つは、動画では扱えません。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535936" cy="1234440"/>
          </a:xfrm>
          <a:prstGeom prst="rect">
            <a:avLst/>
          </a:prstGeom>
          <a:solidFill>
            <a:srgbClr val="1A2942"/>
          </a:solidFill>
          <a:ln w="12700">
            <a:solidFill>
              <a:srgbClr val="2C42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2542032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86384" y="3090672"/>
            <a:ext cx="20604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会社の事情に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86384" y="3694176"/>
            <a:ext cx="2060448" cy="-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EBDD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合わせた設計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04032" y="2286000"/>
            <a:ext cx="2535936" cy="1234440"/>
          </a:xfrm>
          <a:prstGeom prst="rect">
            <a:avLst/>
          </a:prstGeom>
          <a:solidFill>
            <a:srgbClr val="1A2942"/>
          </a:solidFill>
          <a:ln w="12700">
            <a:solidFill>
              <a:srgbClr val="2C42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41776" y="2542032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41776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41776" y="3090672"/>
            <a:ext cx="20604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扱う情報に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41776" y="3694176"/>
            <a:ext cx="2060448" cy="-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EBDD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応じた個別の判断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59424" y="2286000"/>
            <a:ext cx="2535936" cy="1234440"/>
          </a:xfrm>
          <a:prstGeom prst="rect">
            <a:avLst/>
          </a:prstGeom>
          <a:solidFill>
            <a:srgbClr val="1A2942"/>
          </a:solidFill>
          <a:ln w="12700">
            <a:solidFill>
              <a:srgbClr val="2C42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97168" y="2542032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97168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97168" y="3090672"/>
            <a:ext cx="20604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社内や上司への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97168" y="3694176"/>
            <a:ext cx="2060448" cy="-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EBDD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説明の仕方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3749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161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そこまでやりたい方のために、伴走プランがあります。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8046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講座プランと、伴走プラン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566160"/>
                <a:gridCol w="31089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00" marR="9144000" marT="0" marB="0" anchor="ctr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57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この講座</a:t>
                      </a:r>
                      <a:endParaRPr lang="en-US" sz="12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00" marR="9144000" marT="0" marB="0" anchor="ctr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57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伴走プラン</a:t>
                      </a:r>
                      <a:endParaRPr lang="en-US" sz="12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00" marR="9144000" marT="0" marB="0" anchor="ctr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57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F1D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進め方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00" marR="9144000" marT="0" marB="0" anchor="ctr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D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動画を見て、自分で手を動かす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00" marR="9144000" marT="0" marB="0" anchor="ctr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457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月2回、一緒に手を動かす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00" marR="9144000" marT="0" marB="0" anchor="ctr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F1D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題材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00" marR="9144000" marT="0" marB="0" anchor="ctr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D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こちらで用意した例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00" marR="9144000" marT="0" marB="0" anchor="ctr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457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あなたの実際の作業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00" marR="9144000" marT="0" marB="0" anchor="ctr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F1D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質問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00" marR="9144000" marT="0" marB="0" anchor="ctr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D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動画の内容について、30日間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00" marR="9144000" marT="0" marB="0" anchor="ctr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457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期間中いつでも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00" marR="9144000" marT="0" marB="0" anchor="ctr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F1D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ゴール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00" marR="9144000" marT="0" marB="0" anchor="ctr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D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やり方が分かる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00" marR="9144000" marT="0" marB="0" anchor="ctr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457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作業が1つ、実際に終わる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00" marR="9144000" marT="0" marB="0" anchor="ctr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8046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進め方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80467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924812"/>
            <a:ext cx="402336" cy="402336"/>
          </a:xfrm>
          <a:prstGeom prst="ellipse">
            <a:avLst/>
          </a:prstGeom>
          <a:solidFill>
            <a:srgbClr val="24457F"/>
          </a:solidFill>
          <a:ln w="12700">
            <a:solidFill>
              <a:srgbClr val="24457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248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1609344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順番に見てください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371600" y="1938528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161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とばすと後半で困ります。とくに第2章で「任せる作業」を決めてから第3章に進むのが大事です。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80467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3342132"/>
            <a:ext cx="402336" cy="402336"/>
          </a:xfrm>
          <a:prstGeom prst="ellipse">
            <a:avLst/>
          </a:prstGeom>
          <a:solidFill>
            <a:srgbClr val="24457F"/>
          </a:solidFill>
          <a:ln w="12700">
            <a:solidFill>
              <a:srgbClr val="24457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3421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3026664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見るだけでは身につきません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371600" y="3355848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161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第2章と第4章には、手を動かす回があります。動画を止めて、自分でやってから先に進んでください。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8046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用意していただくもの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2535936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1764792"/>
            <a:ext cx="402336" cy="402336"/>
          </a:xfrm>
          <a:prstGeom prst="ellipse">
            <a:avLst/>
          </a:prstGeom>
          <a:solidFill>
            <a:srgbClr val="24457F"/>
          </a:solidFill>
          <a:ln w="12700">
            <a:solidFill>
              <a:srgbClr val="24457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764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86384" y="2313432"/>
            <a:ext cx="20604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パソコン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86384" y="2916936"/>
            <a:ext cx="20604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161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Windows / Mac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161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どちらでも大丈夫です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04032" y="1508760"/>
            <a:ext cx="2535936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41776" y="1764792"/>
            <a:ext cx="402336" cy="402336"/>
          </a:xfrm>
          <a:prstGeom prst="ellipse">
            <a:avLst/>
          </a:prstGeom>
          <a:solidFill>
            <a:srgbClr val="24457F"/>
          </a:solidFill>
          <a:ln w="12700">
            <a:solidFill>
              <a:srgbClr val="24457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1776" y="1764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41776" y="2313432"/>
            <a:ext cx="20604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Claudeのアプリ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41776" y="2916936"/>
            <a:ext cx="20604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161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無料です。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161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入れ方は第3章でやります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59424" y="1508760"/>
            <a:ext cx="2535936" cy="2057400"/>
          </a:xfrm>
          <a:prstGeom prst="rect">
            <a:avLst/>
          </a:prstGeom>
          <a:solidFill>
            <a:srgbClr val="FFF6E6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97168" y="1764792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97168" y="1764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97168" y="2313432"/>
            <a:ext cx="20604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AIの利用料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97168" y="2916936"/>
            <a:ext cx="20604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161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受講料とは別に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161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月に数千円ほどかかります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379476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161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 AIの利用料は、受講料に含まれません。無料で試せる範囲もあります。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8046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質問サポートについて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181051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733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161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期間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1517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457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30日間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2578608" y="1508760"/>
            <a:ext cx="181051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61488" y="16733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161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窓口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61488" y="2011680"/>
            <a:ext cx="1517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457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メール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608576" y="1508760"/>
            <a:ext cx="181051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91456" y="16733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161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返信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91456" y="2011680"/>
            <a:ext cx="1517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457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平日3営業日以内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638544" y="1508760"/>
            <a:ext cx="181051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21424" y="16733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161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対象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21424" y="2011680"/>
            <a:ext cx="1517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457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動画の内容について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548640" y="3127248"/>
            <a:ext cx="8046720" cy="914400"/>
          </a:xfrm>
          <a:prstGeom prst="rect">
            <a:avLst/>
          </a:prstGeom>
          <a:solidFill>
            <a:srgbClr val="FFF6E6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127248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5B0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あなたの業務そのものをどう設計するかというご相談は、伴走プランの範囲になります。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7830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では、始めましょう。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2461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100" kern="0" dirty="0">
                <a:solidFill>
                  <a:srgbClr val="E8A3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第1章  仕事でAIを使うための基礎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第0章 この講座で、どこまでやるか</dc:title>
  <dc:subject>PptxGenJS Presentation</dc:subject>
  <dc:creator>シクミAIコンサル</dc:creator>
  <cp:lastModifiedBy>シクミAIコンサル</cp:lastModifiedBy>
  <cp:revision>1</cp:revision>
  <dcterms:created xsi:type="dcterms:W3CDTF">2026-08-20T07:48:31Z</dcterms:created>
  <dcterms:modified xsi:type="dcterms:W3CDTF">2026-08-20T07:48:31Z</dcterms:modified>
</cp:coreProperties>
</file>